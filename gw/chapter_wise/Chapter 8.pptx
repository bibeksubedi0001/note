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-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D5BF0-A58B-485F-893F-3760D7784A9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5FD87-F581-48A0-B812-5F3641C701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82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74126-C364-4C81-8CE9-DD34F65EE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5209C-8CB7-43C5-911B-649DA2570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4D30C-197C-4A4B-A78A-211061B8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75C66-0607-4811-AD7E-E4EA64B566C2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4B95D-E57E-47A7-A465-F89962D2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0E519-F513-462C-9487-087DE186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90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23C7C-8AF0-4480-9866-2D29FD3DB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41A4F-2263-4F7C-8922-34CC776C2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332F0-09E1-449B-A13C-97D0E0D69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95-23DE-4A45-8D09-8E8A725ECF71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DF911-6171-47FA-9E57-1E0410AE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6F8E5-3963-435A-9EB9-03A227F7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51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DBC2-13BD-4EBA-A059-243F164CB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9EDD1-64CA-42D6-904A-D67509E1A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3C2E5-2D73-4D2F-9832-18DBEFF6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324BF-DCE7-494B-BDD5-7DCD9B4EA1C3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B3F9E-C187-49DB-B28A-EDA6FBD9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2D768-4D95-4602-8B6C-9B1D0A58F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3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3BF5-055A-4542-9A81-3DB6C17A6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7FFF3-76E0-4E1C-9965-25CF51F78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617AD-1D58-4917-9BF9-9559215E6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4F6AB-FDB3-4A1A-BAF6-94E21A19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3C47-FAAB-40BA-90CA-6F87C8FCF0B5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E7834-95B7-4DA3-B2BE-B602D802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E5A6-124A-4818-8A57-51F38118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0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EA10-FD05-4B62-8C96-3D6283FB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AF5B8-9791-45BB-ACFB-138EF088B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FE272-09D5-4013-87A5-52FE0C260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00E708-1AF1-4D14-B9A0-60A97068B1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0C920-CB8C-447B-A19E-E6433DA700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C72D29-0BC2-49C2-A5B2-699C616E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735F5-CF2D-43DD-B979-1FF6A058B737}" type="datetime1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66B17-347F-49A1-A51F-6294495A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066A65-3646-4CB8-B68C-D6A298CD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6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EC89-3693-4CD4-9837-6475FE38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20C99-7C59-4CE4-8AE9-EE95E38D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C006-B86B-4A97-8FF0-54B581AE5A11}" type="datetime1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33592-3873-4266-BEFE-2223B892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54761-8CC2-4B0B-99FB-92DE23CBB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90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28E67A-4EC4-461E-9833-7DE7E5363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3A6D4-09BC-4E8C-B5BC-291C4B40676D}" type="datetime1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8C7FE-9996-4C5C-81C9-431C28D08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F7258-3B1A-43BF-BF4E-7A8AB6999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376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29C3-05E5-45DE-A940-0A4FFAC1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3D48D-1D3E-408E-AD1C-0F84C580C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35F0-FD50-44F5-A81F-54DF9F0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3609B-B192-4961-98F6-89FEAF365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9D456-EE16-4BBF-A043-03FB476FEC49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DCD53-AC39-404E-80B8-5ADFEC6E7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2E5C9-0F67-4AA8-909C-C669F5C16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59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AC34-391B-4D4B-8758-DD5CA6C4F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C462DA-1E7E-4265-A772-5413C2771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FBE8E-917E-43E6-9E82-378EB223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8349F-29C4-4346-9E09-75BAD5686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D1906-C194-4DBA-BF53-5F9BA72355BA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A713E-E66B-4BE9-BA83-5720DAEB7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5F92C-D069-4123-88B1-69874F43B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8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00B8-FE0B-412D-B6E3-AB5F1F0E6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DD1AE-8F75-4E81-89A2-CCA144D47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5474C-95BB-4784-964A-F6CD2A0CE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2CD97-371B-44BF-A95E-7B529C570A80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36E3A-4C9B-4AEC-AF11-A7BB9729C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179C8-C4AF-4D7B-ABB0-581781EED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8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3B5C38-E05C-4D67-9472-9AC038682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003F9-3DE6-4EEE-AEC5-CFA0AC3E1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C2559-35AA-4219-BEFF-88F96E48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02BB7-6B2A-4CA6-8958-AF0AA57A0968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6823E-63A2-468F-B7AD-B5D9DAE7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3D1C3-0E81-497A-A988-BDF6A847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3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6148D-F955-4D57-9D73-F50FF933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87BF8-6341-40F3-BFBF-460F3C752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0543F-D3D1-4795-B25B-72705998C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2A709-0C1D-4D82-A100-4595E54941C0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4D93D-3171-49EA-9FDA-3D85625FE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90028-93B9-4C4A-946C-1DF21DFDE0E4}"/>
              </a:ext>
            </a:extLst>
          </p:cNvPr>
          <p:cNvSpPr txBox="1"/>
          <p:nvPr userDrawn="1"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Pumps For Groundwater Lifting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8EEF5-BB03-4AA0-B38B-5C29EDEE0857}"/>
              </a:ext>
            </a:extLst>
          </p:cNvPr>
          <p:cNvSpPr txBox="1"/>
          <p:nvPr userDrawn="1"/>
        </p:nvSpPr>
        <p:spPr>
          <a:xfrm>
            <a:off x="0" y="6488668"/>
            <a:ext cx="12192000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      Manoj Sapkota   | </a:t>
            </a:r>
            <a:r>
              <a:rPr lang="en-US" b="1" i="1" dirty="0">
                <a:solidFill>
                  <a:schemeClr val="bg1"/>
                </a:solidFill>
              </a:rPr>
              <a:t>Department of Civil Engineering  </a:t>
            </a:r>
            <a:r>
              <a:rPr lang="en-US" b="1" i="0" dirty="0">
                <a:solidFill>
                  <a:schemeClr val="bg1"/>
                </a:solidFill>
              </a:rPr>
              <a:t>|   078BCE087 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DAAC9-4C4F-4C26-8A1C-5C92942F7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25866" y="65389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85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4E4BF9A-EB9F-43BA-B6D5-0C6114A31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81000"/>
                    </a14:imgEffect>
                    <a14:imgEffect>
                      <a14:brightnessContrast bright="1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485775"/>
            <a:ext cx="12192000" cy="6372224"/>
          </a:xfrm>
          <a:prstGeom prst="rect">
            <a:avLst/>
          </a:prstGeom>
          <a:effectLst>
            <a:glow rad="127000">
              <a:schemeClr val="accent1"/>
            </a:glow>
            <a:outerShdw blurRad="50800" dist="50800" dir="5160000" sx="1000" sy="1000" algn="ctr" rotWithShape="0">
              <a:srgbClr val="000000"/>
            </a:outerShdw>
            <a:reflection endPos="65000" dist="508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0A360A-9BC1-488B-90C8-B41EA1EB8A5A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Manoj Sapkota   |    </a:t>
            </a:r>
            <a:r>
              <a:rPr lang="en-US" b="1" i="1" dirty="0">
                <a:solidFill>
                  <a:srgbClr val="002060"/>
                </a:solidFill>
              </a:rPr>
              <a:t>Department of Civil Engineering   </a:t>
            </a:r>
            <a:r>
              <a:rPr lang="en-US" b="1" dirty="0">
                <a:solidFill>
                  <a:srgbClr val="002060"/>
                </a:solidFill>
              </a:rPr>
              <a:t>|   078BCE087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2AB78-2EE6-426B-A73A-E555D966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370" y="6421545"/>
            <a:ext cx="811019" cy="503578"/>
          </a:xfrm>
        </p:spPr>
        <p:txBody>
          <a:bodyPr/>
          <a:lstStyle/>
          <a:p>
            <a:fld id="{6601A63C-EE35-4953-8754-461FDDE099BC}" type="slidenum">
              <a:rPr lang="en-US" smtClean="0"/>
              <a:t>1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9AFBBD-4387-4150-9924-BB92A471C63F}"/>
              </a:ext>
            </a:extLst>
          </p:cNvPr>
          <p:cNvSpPr/>
          <p:nvPr/>
        </p:nvSpPr>
        <p:spPr>
          <a:xfrm>
            <a:off x="3424517" y="1411137"/>
            <a:ext cx="5342965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4000" b="1" i="0" dirty="0">
                <a:solidFill>
                  <a:srgbClr val="0056B3"/>
                </a:solidFill>
                <a:effectLst/>
                <a:latin typeface="Segoe UI" panose="020B0502040204020203" pitchFamily="34" charset="0"/>
              </a:rPr>
              <a:t>PLUNGER PUMP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A8C8D-D8AC-4F99-AC5B-29BCFB0A6F01}"/>
              </a:ext>
            </a:extLst>
          </p:cNvPr>
          <p:cNvSpPr/>
          <p:nvPr/>
        </p:nvSpPr>
        <p:spPr>
          <a:xfrm>
            <a:off x="9502589" y="5122653"/>
            <a:ext cx="2501153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Presenter :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</a:rPr>
              <a:t>Manoj Sapkota </a:t>
            </a:r>
          </a:p>
          <a:p>
            <a:pPr algn="ctr"/>
            <a:r>
              <a:rPr lang="en-US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078BCE087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B19D41-E0BF-40B4-AF72-5A47AA3AFFA5}"/>
              </a:ext>
            </a:extLst>
          </p:cNvPr>
          <p:cNvSpPr/>
          <p:nvPr/>
        </p:nvSpPr>
        <p:spPr>
          <a:xfrm>
            <a:off x="3451412" y="4269663"/>
            <a:ext cx="4383741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Maiandra GD" panose="020E0502030308020204" pitchFamily="34" charset="0"/>
              </a:rPr>
              <a:t>Group Members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Maiandra GD" panose="020E0502030308020204" pitchFamily="34" charset="0"/>
              </a:rPr>
              <a:t>Mission Bhattarai (078BCE088)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Maiandra GD" panose="020E0502030308020204" pitchFamily="34" charset="0"/>
              </a:rPr>
              <a:t>Nishan KC (078BCE098)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Maiandra GD" panose="020E0502030308020204" pitchFamily="34" charset="0"/>
              </a:rPr>
              <a:t>Pramod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Maiandra GD" panose="020E0502030308020204" pitchFamily="34" charset="0"/>
              </a:rPr>
              <a:t>Chaulagain</a:t>
            </a:r>
            <a:r>
              <a:rPr lang="en-US" b="0" i="0" dirty="0">
                <a:solidFill>
                  <a:srgbClr val="555555"/>
                </a:solidFill>
                <a:effectLst/>
                <a:latin typeface="Maiandra GD" panose="020E0502030308020204" pitchFamily="34" charset="0"/>
              </a:rPr>
              <a:t> (078BCE109)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555555"/>
                </a:solidFill>
                <a:effectLst/>
                <a:latin typeface="Maiandra GD" panose="020E0502030308020204" pitchFamily="34" charset="0"/>
              </a:rPr>
              <a:t>Ronish</a:t>
            </a:r>
            <a:r>
              <a:rPr lang="en-US" b="0" i="0" dirty="0">
                <a:solidFill>
                  <a:srgbClr val="555555"/>
                </a:solidFill>
                <a:effectLst/>
                <a:latin typeface="Maiandra GD" panose="020E0502030308020204" pitchFamily="34" charset="0"/>
              </a:rPr>
              <a:t> Sapkota (078BCE128)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Maiandra GD" panose="020E0502030308020204" pitchFamily="34" charset="0"/>
              </a:rPr>
              <a:t>Roshan Karki (078BCE129)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55555"/>
                </a:solidFill>
                <a:latin typeface="Maiandra GD" panose="020E0502030308020204" pitchFamily="34" charset="0"/>
              </a:rPr>
              <a:t>Roshan Bhandari (</a:t>
            </a:r>
            <a:r>
              <a:rPr lang="en-US" b="0" i="0" dirty="0">
                <a:solidFill>
                  <a:srgbClr val="555555"/>
                </a:solidFill>
                <a:effectLst/>
                <a:latin typeface="Maiandra GD" panose="020E0502030308020204" pitchFamily="34" charset="0"/>
              </a:rPr>
              <a:t>078BCE130)</a:t>
            </a:r>
          </a:p>
        </p:txBody>
      </p:sp>
      <p:pic>
        <p:nvPicPr>
          <p:cNvPr id="14" name="Picture 2" descr="IOE Graduate Conference">
            <a:extLst>
              <a:ext uri="{FF2B5EF4-FFF2-40B4-BE49-F238E27FC236}">
                <a16:creationId xmlns:a16="http://schemas.microsoft.com/office/drawing/2014/main" id="{F677A9D0-10E5-47AA-9B9C-F699E95B6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659" y="1411137"/>
            <a:ext cx="631034" cy="70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OE Graduate Conference">
            <a:extLst>
              <a:ext uri="{FF2B5EF4-FFF2-40B4-BE49-F238E27FC236}">
                <a16:creationId xmlns:a16="http://schemas.microsoft.com/office/drawing/2014/main" id="{C164CD35-7095-4510-9586-EBBC4C0CC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306" y="1411137"/>
            <a:ext cx="631034" cy="70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524B810-BB92-4F36-8511-54BBB36DD541}"/>
              </a:ext>
            </a:extLst>
          </p:cNvPr>
          <p:cNvSpPr/>
          <p:nvPr/>
        </p:nvSpPr>
        <p:spPr>
          <a:xfrm>
            <a:off x="116541" y="5075225"/>
            <a:ext cx="2501153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Presented to :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Segoe UI" panose="020B0502040204020203" pitchFamily="34" charset="0"/>
              </a:rPr>
              <a:t> Ms. Sujata Adhikari</a:t>
            </a:r>
          </a:p>
        </p:txBody>
      </p:sp>
      <p:sp>
        <p:nvSpPr>
          <p:cNvPr id="18" name="AutoShape 8" descr="What is Plunger Pump and How Does It Work?">
            <a:extLst>
              <a:ext uri="{FF2B5EF4-FFF2-40B4-BE49-F238E27FC236}">
                <a16:creationId xmlns:a16="http://schemas.microsoft.com/office/drawing/2014/main" id="{9243EF94-AC62-4175-BEFC-4D8AAAB7F3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8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FFE61-0F9F-4394-A4A9-588A39152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F71FB-B32A-4390-BA8A-20AEF8656DA2}" type="datetime1">
              <a:rPr lang="en-US" smtClean="0"/>
              <a:t>12/25/2025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D38FE-0471-4213-B55E-6BDF7DEE5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8C3AA-141C-4841-8913-C8AEB1F92183}"/>
              </a:ext>
            </a:extLst>
          </p:cNvPr>
          <p:cNvSpPr/>
          <p:nvPr/>
        </p:nvSpPr>
        <p:spPr>
          <a:xfrm>
            <a:off x="142875" y="657225"/>
            <a:ext cx="119443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0" u="sng" dirty="0">
                <a:effectLst/>
                <a:latin typeface="Rockwell" panose="02060603020205020403" pitchFamily="18" charset="0"/>
              </a:rPr>
              <a:t>Introduction to Pumps</a:t>
            </a:r>
          </a:p>
          <a:p>
            <a:endParaRPr lang="en-US" sz="2800" b="1" i="0" dirty="0">
              <a:solidFill>
                <a:srgbClr val="333333"/>
              </a:solidFill>
              <a:effectLst/>
              <a:latin typeface="Rockwell" panose="02060603020205020403" pitchFamily="18" charset="0"/>
            </a:endParaRPr>
          </a:p>
          <a:p>
            <a:r>
              <a:rPr lang="en-US" sz="2800" b="1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Definition: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 A hydraulic machine that converts </a:t>
            </a:r>
            <a:r>
              <a:rPr lang="en-US" sz="2800" b="0" i="1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Mechanical Energy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 (from a motor) into </a:t>
            </a:r>
            <a:r>
              <a:rPr lang="en-US" sz="2800" b="0" i="1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Hydraulic Energy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 (Pressure Energy).</a:t>
            </a:r>
          </a:p>
          <a:p>
            <a:br>
              <a:rPr lang="en-US" sz="2800" b="0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</a:br>
            <a:r>
              <a:rPr lang="en-US" sz="2800" b="1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Primary Functions:</a:t>
            </a:r>
            <a:endParaRPr lang="en-US" sz="2800" b="0" i="0" dirty="0">
              <a:solidFill>
                <a:srgbClr val="333333"/>
              </a:solidFill>
              <a:effectLst/>
              <a:latin typeface="Rockwell" panose="020606030202050204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Transfer liquid from a low-pressure zone to a high-pressure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Lift liquid from a lower level to a higher level.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Circulate liquid against system resistance.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784A29-FEAD-4830-8AD7-B8C3818DF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934" y="4639282"/>
            <a:ext cx="12192000" cy="156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2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556ED-7D1B-4F5B-B3EA-2A4DD37B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549B64-5CA7-4E37-B1DC-D6917FB9CE71}"/>
              </a:ext>
            </a:extLst>
          </p:cNvPr>
          <p:cNvSpPr/>
          <p:nvPr/>
        </p:nvSpPr>
        <p:spPr>
          <a:xfrm>
            <a:off x="251012" y="753035"/>
            <a:ext cx="11178988" cy="25545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effectLst/>
              </a:rPr>
              <a:t>Classification of Pumps</a:t>
            </a:r>
          </a:p>
          <a:p>
            <a:r>
              <a:rPr lang="en-US" sz="32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Pumps are broadly classified based on how they transfer energy to the fluid.</a:t>
            </a:r>
          </a:p>
          <a:p>
            <a:br>
              <a:rPr lang="en-US" sz="32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</a:b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583044-47C5-4D62-95D7-B172A93D7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012" y="3429000"/>
            <a:ext cx="7368987" cy="286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02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DD9CD-7BFF-448A-B610-54DE5A5E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95-23DE-4A45-8D09-8E8A725ECF71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94F26-E6FA-4F28-84B6-4EEEE858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B6359-359F-42AC-B567-31F2244A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5B6F89-3E5C-4602-908F-135C6BAB3203}"/>
              </a:ext>
            </a:extLst>
          </p:cNvPr>
          <p:cNvSpPr/>
          <p:nvPr/>
        </p:nvSpPr>
        <p:spPr>
          <a:xfrm>
            <a:off x="233082" y="806841"/>
            <a:ext cx="1172583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0" u="sng" dirty="0">
                <a:effectLst/>
                <a:latin typeface="Segoe UI" panose="020B0502040204020203" pitchFamily="34" charset="0"/>
              </a:rPr>
              <a:t>Plunger Pump vs. Piston Pump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While both are reciprocating pumps, the key difference lies in the 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sealing mechanism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.</a:t>
            </a:r>
          </a:p>
        </p:txBody>
      </p:sp>
      <p:pic>
        <p:nvPicPr>
          <p:cNvPr id="3074" name="Picture 2" descr="What are the Differences between Plunger Pumps &amp; Piston Pumps? - HotsyAB">
            <a:extLst>
              <a:ext uri="{FF2B5EF4-FFF2-40B4-BE49-F238E27FC236}">
                <a16:creationId xmlns:a16="http://schemas.microsoft.com/office/drawing/2014/main" id="{8EE555C8-D590-4A9E-9D45-F45CEB42B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909" y="1730703"/>
            <a:ext cx="3634068" cy="286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BB645F2-0617-4493-86DE-CD583380DCAD}"/>
              </a:ext>
            </a:extLst>
          </p:cNvPr>
          <p:cNvSpPr/>
          <p:nvPr/>
        </p:nvSpPr>
        <p:spPr>
          <a:xfrm>
            <a:off x="4476952" y="4360534"/>
            <a:ext cx="187102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 : https://hosturl.link/GSvspq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5C84FC-4E44-4ECD-816B-66623003F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99" y="4604618"/>
            <a:ext cx="10251800" cy="173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67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7327C-9D74-4822-98AD-EA8D02B6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5</a:t>
            </a:fld>
            <a:endParaRPr lang="en-US"/>
          </a:p>
        </p:txBody>
      </p:sp>
      <p:pic>
        <p:nvPicPr>
          <p:cNvPr id="7" name="Types of Pumps &amp; Plunger Pumps - Manoj Sapkota - Opera 2025-12-25 18-09-27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D27B931A-27B7-438A-85AF-16B5881FE07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2048" y="1541912"/>
            <a:ext cx="11591365" cy="3124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382F3C4-8573-4BBC-B155-1E2A87A42A52}"/>
              </a:ext>
            </a:extLst>
          </p:cNvPr>
          <p:cNvSpPr/>
          <p:nvPr/>
        </p:nvSpPr>
        <p:spPr>
          <a:xfrm>
            <a:off x="358587" y="618582"/>
            <a:ext cx="115913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0" u="sng" dirty="0">
                <a:effectLst/>
                <a:latin typeface="Segoe UI" panose="020B0502040204020203" pitchFamily="34" charset="0"/>
              </a:rPr>
              <a:t>Working Principle</a:t>
            </a:r>
          </a:p>
          <a:p>
            <a:endParaRPr lang="en-US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The operation consists of two strokes: Suction and Discharge.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C7C554-65A8-4F27-A50F-7EF39029B7D1}"/>
              </a:ext>
            </a:extLst>
          </p:cNvPr>
          <p:cNvSpPr/>
          <p:nvPr/>
        </p:nvSpPr>
        <p:spPr>
          <a:xfrm>
            <a:off x="242047" y="4715923"/>
            <a:ext cx="11591365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Suction Stroke (Plunger moves Right):</a:t>
            </a:r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Vacuum created. Inlet valve opens (Green). Outlet valve closes (Red). Fluid enters.</a:t>
            </a:r>
          </a:p>
          <a:p>
            <a:pPr>
              <a:buFont typeface="+mj-lt"/>
              <a:buAutoNum type="arabicPeriod"/>
            </a:pPr>
            <a:r>
              <a:rPr 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Discharge Stroke (Plunger moves Left):</a:t>
            </a:r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Volume decreases. Pressure rises. Inlet valve closes. Outlet valve opens. Fluid forced out.</a:t>
            </a:r>
          </a:p>
        </p:txBody>
      </p:sp>
    </p:spTree>
    <p:extLst>
      <p:ext uri="{BB962C8B-B14F-4D97-AF65-F5344CB8AC3E}">
        <p14:creationId xmlns:p14="http://schemas.microsoft.com/office/powerpoint/2010/main" val="103175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5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3DC7-6D6A-43EF-80B3-41D0BA185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95-23DE-4A45-8D09-8E8A725ECF71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610BF-7C2F-44EC-9AFB-BEDBE5ECC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59C8E-684C-485F-816F-9D8DAC18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F5D292-3A17-4DB9-9C28-B3C63DE120C1}"/>
              </a:ext>
            </a:extLst>
          </p:cNvPr>
          <p:cNvSpPr/>
          <p:nvPr/>
        </p:nvSpPr>
        <p:spPr>
          <a:xfrm>
            <a:off x="349624" y="1166843"/>
            <a:ext cx="10856258" cy="41242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i="0" u="sng" dirty="0">
                <a:effectLst/>
                <a:latin typeface="Segoe UI" panose="020B0502040204020203" pitchFamily="34" charset="0"/>
              </a:rPr>
              <a:t>Construction Features</a:t>
            </a:r>
          </a:p>
          <a:p>
            <a:endParaRPr lang="en-US" b="1" i="0" dirty="0">
              <a:solidFill>
                <a:srgbClr val="0056B3"/>
              </a:solidFill>
              <a:effectLst/>
              <a:latin typeface="Segoe UI" panose="020B0502040204020203" pitchFamily="34" charset="0"/>
            </a:endParaRPr>
          </a:p>
          <a:p>
            <a:r>
              <a:rPr lang="en-US" sz="2000" b="1" i="0" dirty="0">
                <a:solidFill>
                  <a:srgbClr val="0056B3"/>
                </a:solidFill>
                <a:effectLst/>
                <a:latin typeface="Segoe UI" panose="020B0502040204020203" pitchFamily="34" charset="0"/>
              </a:rPr>
              <a:t>1. The Plunger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Unlike a piston, the plunger is a solid cylinder. It is often made of 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Ceramic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or high-grade 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Stainless Steel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to resist wear and corrosion.</a:t>
            </a:r>
          </a:p>
          <a:p>
            <a:r>
              <a:rPr lang="en-US" sz="2000" b="1" i="0" dirty="0">
                <a:solidFill>
                  <a:srgbClr val="0056B3"/>
                </a:solidFill>
                <a:effectLst/>
                <a:latin typeface="Segoe UI" panose="020B0502040204020203" pitchFamily="34" charset="0"/>
              </a:rPr>
              <a:t>2. Stationary Packing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The seal does not move. This allows for tighter sealing arrangements, enabling the pump to reach pressures up to 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20,000 PSI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r>
              <a:rPr lang="en-US" sz="2000" b="1" i="0" dirty="0">
                <a:solidFill>
                  <a:srgbClr val="0056B3"/>
                </a:solidFill>
                <a:effectLst/>
                <a:latin typeface="Segoe UI" panose="020B0502040204020203" pitchFamily="34" charset="0"/>
              </a:rPr>
              <a:t>3. Valves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Spring-loaded check valves (ball or poppet type) ensure </a:t>
            </a:r>
            <a:r>
              <a:rPr lang="en-US" sz="20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uni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-directional flow.</a:t>
            </a:r>
          </a:p>
          <a:p>
            <a:r>
              <a:rPr lang="en-US" sz="2000" b="1" i="0" dirty="0">
                <a:solidFill>
                  <a:srgbClr val="0056B3"/>
                </a:solidFill>
                <a:effectLst/>
                <a:latin typeface="Segoe UI" panose="020B0502040204020203" pitchFamily="34" charset="0"/>
              </a:rPr>
              <a:t>4. Drive Mechanism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Powered by an electric motor or diesel engine connected via a crankshaft to convert rotary motion to reciprocating motion.</a:t>
            </a:r>
          </a:p>
        </p:txBody>
      </p:sp>
    </p:spTree>
    <p:extLst>
      <p:ext uri="{BB962C8B-B14F-4D97-AF65-F5344CB8AC3E}">
        <p14:creationId xmlns:p14="http://schemas.microsoft.com/office/powerpoint/2010/main" val="3240966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10352-5461-4EC5-B808-3B956AD8D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95-23DE-4A45-8D09-8E8A725ECF71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582CF-91D0-4F25-BF36-87DA603A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B73A5-F32C-4684-92D4-216C5BB8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6B06A4-BA11-4DF9-B54B-C8B16BDED642}"/>
              </a:ext>
            </a:extLst>
          </p:cNvPr>
          <p:cNvSpPr/>
          <p:nvPr/>
        </p:nvSpPr>
        <p:spPr>
          <a:xfrm>
            <a:off x="4069195" y="716287"/>
            <a:ext cx="405361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sz="2400" b="1" i="0" dirty="0">
                <a:effectLst/>
                <a:latin typeface="Segoe UI" panose="020B0502040204020203" pitchFamily="34" charset="0"/>
              </a:rPr>
              <a:t>Suitability: When to use it?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EB109E-6790-49C4-BB5E-DC6B15C6C8DC}"/>
              </a:ext>
            </a:extLst>
          </p:cNvPr>
          <p:cNvSpPr/>
          <p:nvPr/>
        </p:nvSpPr>
        <p:spPr>
          <a:xfrm>
            <a:off x="295836" y="1828817"/>
            <a:ext cx="4267723" cy="132343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056B3"/>
                </a:solidFill>
                <a:effectLst/>
                <a:latin typeface="Segoe UI" panose="020B0502040204020203" pitchFamily="34" charset="0"/>
              </a:rPr>
              <a:t>High Pressure, Low Flow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Ideal for applications needing massive pressure where volume is secondary.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7E44E9-3338-4605-A05F-DB10E6B93FFE}"/>
              </a:ext>
            </a:extLst>
          </p:cNvPr>
          <p:cNvSpPr/>
          <p:nvPr/>
        </p:nvSpPr>
        <p:spPr>
          <a:xfrm>
            <a:off x="6445624" y="1828817"/>
            <a:ext cx="4688541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056B3"/>
                </a:solidFill>
                <a:effectLst/>
                <a:latin typeface="Segoe UI" panose="020B0502040204020203" pitchFamily="34" charset="0"/>
              </a:rPr>
              <a:t>Viscous Fluids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Handles</a:t>
            </a:r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heavy</a:t>
            </a:r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oils, sludge, and slurries better than centrifugal pumps.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37420B-7EB0-4016-8588-5136B4AB9955}"/>
              </a:ext>
            </a:extLst>
          </p:cNvPr>
          <p:cNvSpPr/>
          <p:nvPr/>
        </p:nvSpPr>
        <p:spPr>
          <a:xfrm>
            <a:off x="197223" y="3483197"/>
            <a:ext cx="4366336" cy="16312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US" sz="2000" b="1" i="0" dirty="0">
                <a:solidFill>
                  <a:srgbClr val="0056B3"/>
                </a:solidFill>
                <a:effectLst/>
                <a:latin typeface="Segoe UI" panose="020B0502040204020203" pitchFamily="34" charset="0"/>
              </a:rPr>
            </a:br>
            <a:r>
              <a:rPr lang="en-US" sz="2000" b="1" i="0" dirty="0">
                <a:solidFill>
                  <a:srgbClr val="0056B3"/>
                </a:solidFill>
                <a:effectLst/>
                <a:latin typeface="Segoe UI" panose="020B0502040204020203" pitchFamily="34" charset="0"/>
              </a:rPr>
              <a:t>Metering / Dosing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Exact volume per stroke makes it perfect for chemical dosing (e.g., fertilizer injection).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72633C-B918-404F-92C3-F45C2AD38779}"/>
              </a:ext>
            </a:extLst>
          </p:cNvPr>
          <p:cNvSpPr/>
          <p:nvPr/>
        </p:nvSpPr>
        <p:spPr>
          <a:xfrm>
            <a:off x="6284259" y="4013521"/>
            <a:ext cx="4849906" cy="101566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056B3"/>
                </a:solidFill>
                <a:effectLst/>
                <a:latin typeface="Segoe UI" panose="020B0502040204020203" pitchFamily="34" charset="0"/>
              </a:rPr>
              <a:t>Self-Priming</a:t>
            </a: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Can pump air/gas to clear lines, unlike standard centrifugal pumps.</a:t>
            </a:r>
          </a:p>
        </p:txBody>
      </p:sp>
    </p:spTree>
    <p:extLst>
      <p:ext uri="{BB962C8B-B14F-4D97-AF65-F5344CB8AC3E}">
        <p14:creationId xmlns:p14="http://schemas.microsoft.com/office/powerpoint/2010/main" val="1075279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13DFF-25C8-49D4-83A5-AA2B1A2CA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95-23DE-4A45-8D09-8E8A725ECF71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3F0B1-2832-4350-A4B2-76DD6643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B5E4D-9348-4B8C-A8ED-989FD920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8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A7314A-9253-49DD-859C-2753619D0E8F}"/>
              </a:ext>
            </a:extLst>
          </p:cNvPr>
          <p:cNvSpPr/>
          <p:nvPr/>
        </p:nvSpPr>
        <p:spPr>
          <a:xfrm>
            <a:off x="475129" y="843677"/>
            <a:ext cx="11241742" cy="384720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i="0" u="sng" dirty="0">
                <a:effectLst/>
                <a:latin typeface="Segoe UI" panose="020B0502040204020203" pitchFamily="34" charset="0"/>
              </a:rPr>
              <a:t>Real-World Applications</a:t>
            </a:r>
          </a:p>
          <a:p>
            <a:pPr algn="ctr"/>
            <a:endParaRPr lang="en-US" sz="2800" b="1" i="0" dirty="0">
              <a:solidFill>
                <a:srgbClr val="00A8CC"/>
              </a:solidFill>
              <a:effectLst/>
              <a:latin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High-Pressure Washing: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Car washes and industrial surface cleaning (The most common use).</a:t>
            </a:r>
          </a:p>
          <a:p>
            <a:endParaRPr lang="en-US" sz="2400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Reverse Osmosis (RO):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Pushing salt water through membranes in desalination.</a:t>
            </a:r>
          </a:p>
          <a:p>
            <a:endParaRPr lang="en-US" sz="2400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Oil &amp; Gas: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Injecting methanol or glycol into wells at high pressure.</a:t>
            </a:r>
          </a:p>
          <a:p>
            <a:endParaRPr lang="en-US" sz="2400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Water Jet Cutting: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Using water to cut steel/stone.</a:t>
            </a:r>
          </a:p>
        </p:txBody>
      </p:sp>
    </p:spTree>
    <p:extLst>
      <p:ext uri="{BB962C8B-B14F-4D97-AF65-F5344CB8AC3E}">
        <p14:creationId xmlns:p14="http://schemas.microsoft.com/office/powerpoint/2010/main" val="3787220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CE6EA-9310-4179-A90D-F3E9B793F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8A9B30-A801-464F-8800-D647B5C829B6}"/>
              </a:ext>
            </a:extLst>
          </p:cNvPr>
          <p:cNvSpPr/>
          <p:nvPr/>
        </p:nvSpPr>
        <p:spPr>
          <a:xfrm>
            <a:off x="614082" y="846329"/>
            <a:ext cx="10963835" cy="48320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i="0" u="sng" dirty="0">
                <a:effectLst/>
                <a:latin typeface="Segoe UI" panose="020B0502040204020203" pitchFamily="34" charset="0"/>
              </a:rPr>
              <a:t>Advantages vs. Disadvantages</a:t>
            </a:r>
          </a:p>
          <a:p>
            <a:r>
              <a:rPr lang="en-US" sz="2800" b="1" i="0" dirty="0">
                <a:solidFill>
                  <a:srgbClr val="008000"/>
                </a:solidFill>
                <a:effectLst/>
                <a:latin typeface="Segoe UI" panose="020B0502040204020203" pitchFamily="34" charset="0"/>
              </a:rPr>
              <a:t> 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Capable of very high discharge pressures.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High hydraulic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Constant flow rate (Positive Displacement).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Self-priming capability.</a:t>
            </a:r>
          </a:p>
          <a:p>
            <a:r>
              <a:rPr lang="en-US" sz="2800" b="1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 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Pulsating Flow: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Requires dampeners.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Maintenance: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Valves and packing need monitoring.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Size/Weight: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Heavy and bulky.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Higher initial cost than centrifugal pumps.</a:t>
            </a:r>
          </a:p>
        </p:txBody>
      </p:sp>
    </p:spTree>
    <p:extLst>
      <p:ext uri="{BB962C8B-B14F-4D97-AF65-F5344CB8AC3E}">
        <p14:creationId xmlns:p14="http://schemas.microsoft.com/office/powerpoint/2010/main" val="2863806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3A079-3617-43EB-A09E-3193DD2C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C01981-B67F-49EF-A1E9-91440BFB707C}"/>
              </a:ext>
            </a:extLst>
          </p:cNvPr>
          <p:cNvSpPr/>
          <p:nvPr/>
        </p:nvSpPr>
        <p:spPr>
          <a:xfrm>
            <a:off x="372035" y="1524924"/>
            <a:ext cx="11447929" cy="304698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solidFill>
                  <a:srgbClr val="00A8CC"/>
                </a:solidFill>
                <a:effectLst/>
              </a:rPr>
              <a:t>Conclusion: </a:t>
            </a:r>
          </a:p>
          <a:p>
            <a:pPr algn="ctr"/>
            <a:endParaRPr lang="en-US" sz="3200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ctr"/>
            <a:r>
              <a:rPr lang="en-US" sz="3200" b="0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"The Plunger Pump is the </a:t>
            </a:r>
            <a:r>
              <a:rPr lang="en-US" sz="3200" b="1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Powerhouse of Pressure</a:t>
            </a:r>
            <a:r>
              <a:rPr lang="en-US" sz="3200" b="0" i="0" dirty="0">
                <a:solidFill>
                  <a:srgbClr val="333333"/>
                </a:solidFill>
                <a:effectLst/>
                <a:latin typeface="Rockwell" panose="02060603020205020403" pitchFamily="18" charset="0"/>
              </a:rPr>
              <a:t>. It sacrifices smooth flow for raw force and precision."</a:t>
            </a:r>
          </a:p>
          <a:p>
            <a:br>
              <a:rPr lang="en-US" sz="32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60126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9DE32-3FD1-48A2-B321-021FDEAF1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A6895-23DE-4A45-8D09-8E8A725ECF71}" type="datetime1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BAAA3-9176-4177-8580-3BA1F395F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97DB-37BB-47FB-871D-F4DC669E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1A63C-EE35-4953-8754-461FDDE099BC}" type="slidenum">
              <a:rPr lang="en-US" smtClean="0"/>
              <a:t>11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B21088-9DB3-4574-A201-AB84785B943A}"/>
              </a:ext>
            </a:extLst>
          </p:cNvPr>
          <p:cNvSpPr/>
          <p:nvPr/>
        </p:nvSpPr>
        <p:spPr>
          <a:xfrm>
            <a:off x="600636" y="1644187"/>
            <a:ext cx="10623176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rgbClr val="00A8CC"/>
                </a:solidFill>
                <a:effectLst/>
                <a:latin typeface="Segoe UI" panose="020B0502040204020203" pitchFamily="34" charset="0"/>
              </a:rPr>
              <a:t>References</a:t>
            </a:r>
          </a:p>
          <a:p>
            <a:r>
              <a:rPr lang="en-US" sz="2400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Bansal, R. K. (2005). </a:t>
            </a:r>
            <a:r>
              <a:rPr lang="en-US" sz="2400" b="0" i="1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A textbook of fluid mechanics and hydraulic machines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. Laxmi Publications.</a:t>
            </a:r>
          </a:p>
          <a:p>
            <a:r>
              <a:rPr lang="en-US" sz="2400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Grundfos. (2023). </a:t>
            </a:r>
            <a:r>
              <a:rPr lang="en-US" sz="2400" b="0" i="1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The pump handbook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. Grundfos Management A/S.</a:t>
            </a:r>
          </a:p>
          <a:p>
            <a:r>
              <a:rPr lang="en-US" sz="2400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Modi, P. N., &amp; Seth, S. M. (2002). </a:t>
            </a:r>
            <a:r>
              <a:rPr lang="en-US" sz="2400" b="0" i="1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Hydraulics and fluid mechanics including hydraulics machines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. Standard Book House.</a:t>
            </a:r>
          </a:p>
          <a:p>
            <a:r>
              <a:rPr lang="en-US" sz="2400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Pump School. (n.d.). </a:t>
            </a:r>
            <a:r>
              <a:rPr lang="en-US" sz="2400" b="0" i="1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Plunger vs piston pumps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.</a:t>
            </a:r>
          </a:p>
          <a:p>
            <a:r>
              <a:rPr lang="en-US" sz="2400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White, F. M. (2011). </a:t>
            </a:r>
            <a:r>
              <a:rPr lang="en-US" sz="2400" b="0" i="1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Fluid mechanics</a:t>
            </a:r>
            <a:r>
              <a:rPr lang="en-US" sz="2400" b="0" i="0" dirty="0">
                <a:solidFill>
                  <a:srgbClr val="444444"/>
                </a:solidFill>
                <a:effectLst/>
                <a:latin typeface="Segoe UI" panose="020B0502040204020203" pitchFamily="34" charset="0"/>
              </a:rPr>
              <a:t> (7th ed.). 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341635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650</Words>
  <Application>Microsoft Office PowerPoint</Application>
  <PresentationFormat>Widescreen</PresentationFormat>
  <Paragraphs>98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Maiandra GD</vt:lpstr>
      <vt:lpstr>Rockwell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Manoj Sapkota</dc:creator>
  <cp:lastModifiedBy>Manoj Sapkota</cp:lastModifiedBy>
  <cp:revision>1</cp:revision>
  <dcterms:created xsi:type="dcterms:W3CDTF">2025-12-25T11:46:57Z</dcterms:created>
  <dcterms:modified xsi:type="dcterms:W3CDTF">2025-12-25T12:50:23Z</dcterms:modified>
</cp:coreProperties>
</file>